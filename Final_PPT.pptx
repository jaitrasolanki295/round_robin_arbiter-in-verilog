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3" r:id="rId1"/>
  </p:sldMasterIdLst>
  <p:notesMasterIdLst>
    <p:notesMasterId r:id="rId18"/>
  </p:notesMasterIdLst>
  <p:sldIdLst>
    <p:sldId id="257" r:id="rId2"/>
    <p:sldId id="262" r:id="rId3"/>
    <p:sldId id="263" r:id="rId4"/>
    <p:sldId id="264" r:id="rId5"/>
    <p:sldId id="265" r:id="rId6"/>
    <p:sldId id="271" r:id="rId7"/>
    <p:sldId id="273" r:id="rId8"/>
    <p:sldId id="266" r:id="rId9"/>
    <p:sldId id="267" r:id="rId10"/>
    <p:sldId id="274" r:id="rId11"/>
    <p:sldId id="268" r:id="rId12"/>
    <p:sldId id="269" r:id="rId13"/>
    <p:sldId id="270" r:id="rId14"/>
    <p:sldId id="276" r:id="rId15"/>
    <p:sldId id="277" r:id="rId16"/>
    <p:sldId id="27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nvi Solanki" initials="TS" lastIdx="2" clrIdx="0">
    <p:extLst>
      <p:ext uri="{19B8F6BF-5375-455C-9EA6-DF929625EA0E}">
        <p15:presenceInfo xmlns:p15="http://schemas.microsoft.com/office/powerpoint/2012/main" userId="035358039566b40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90" autoAdjust="0"/>
  </p:normalViewPr>
  <p:slideViewPr>
    <p:cSldViewPr snapToGrid="0">
      <p:cViewPr>
        <p:scale>
          <a:sx n="66" d="100"/>
          <a:sy n="66" d="100"/>
        </p:scale>
        <p:origin x="1301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76FA7F-689D-4201-BD2E-751F1B50C485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3092F-E5D8-4A62-AE99-7160E09CE2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929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58693-BFF4-4707-A19E-7AE229E123DF}" type="datetime1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Dhirubhai Ambani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1EFC-62C9-4946-A2EF-63AEA09E851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0522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A907B-0A6E-4C51-AD5C-E56D20893B37}" type="datetime1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Dhirubhai Ambani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1EFC-62C9-4946-A2EF-63AEA09E85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593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47270-8F95-4084-8BF5-337305F22B59}" type="datetime1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Dhirubhai Ambani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1EFC-62C9-4946-A2EF-63AEA09E851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874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BF7DE-2244-46E8-A86F-0DBEF2C73C97}" type="datetime1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Dhirubhai Ambani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1EFC-62C9-4946-A2EF-63AEA09E85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7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DBE41-4E07-4AC5-8A44-653E5B44CB22}" type="datetime1">
              <a:rPr lang="en-IN" smtClean="0"/>
              <a:t>02-12-2025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Dhirubhai Ambani University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1EFC-62C9-4946-A2EF-63AEA09E85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895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2EC2F-8155-474D-9F80-350F1DAAD61C}" type="datetime1">
              <a:rPr lang="en-IN" smtClean="0"/>
              <a:t>02-12-2025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Dhirubhai Ambani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1EFC-62C9-4946-A2EF-63AEA09E85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124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BBFB8-6786-458E-885F-EFB02C99551C}" type="datetime1">
              <a:rPr lang="en-IN" smtClean="0"/>
              <a:t>02-12-2025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IN" dirty="0"/>
              <a:t>Dhirubhai Ambani University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1EFC-62C9-4946-A2EF-63AEA09E85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805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F88359D-7BE4-4B85-BCAA-4911C21D8EF9}" type="datetime1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IN" dirty="0"/>
              <a:t>Dhirubhai Ambani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F0E1EFC-62C9-4946-A2EF-63AEA09E85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703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DF84-79D8-45BE-9D09-80BBD6CA50E3}" type="datetime1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Dhirubhai Ambani University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1EFC-62C9-4946-A2EF-63AEA09E85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368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A5FA6-A2DC-461D-AEDC-0E5EF5005FC0}" type="datetime1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Dhirubhai Ambani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1EFC-62C9-4946-A2EF-63AEA09E85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273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9012B-41A4-4D97-9186-06E47D985FAD}" type="datetime1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Dhirubhai Ambani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1EFC-62C9-4946-A2EF-63AEA09E85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677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5B16CBB-3421-4681-8393-C7E6EA6F2EA3}" type="datetime1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IN" dirty="0"/>
              <a:t>Dhirubhai Ambani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F0E1EFC-62C9-4946-A2EF-63AEA09E8516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844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5" r:id="rId2"/>
    <p:sldLayoutId id="2147483916" r:id="rId3"/>
    <p:sldLayoutId id="2147483917" r:id="rId4"/>
    <p:sldLayoutId id="2147483918" r:id="rId5"/>
    <p:sldLayoutId id="2147483919" r:id="rId6"/>
    <p:sldLayoutId id="2147483920" r:id="rId7"/>
    <p:sldLayoutId id="2147483921" r:id="rId8"/>
    <p:sldLayoutId id="2147483922" r:id="rId9"/>
    <p:sldLayoutId id="2147483923" r:id="rId10"/>
    <p:sldLayoutId id="2147483924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F4613E-D2EB-4089-AB2F-81245C237342}"/>
              </a:ext>
            </a:extLst>
          </p:cNvPr>
          <p:cNvSpPr txBox="1">
            <a:spLocks/>
          </p:cNvSpPr>
          <p:nvPr/>
        </p:nvSpPr>
        <p:spPr>
          <a:xfrm>
            <a:off x="2333415" y="1088187"/>
            <a:ext cx="9063317" cy="173093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>
                <a:solidFill>
                  <a:srgbClr val="22222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Individual Project 1</a:t>
            </a:r>
            <a:r>
              <a:rPr lang="en-IN" sz="4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(ED319)</a:t>
            </a:r>
            <a:br>
              <a:rPr lang="en-IN" sz="4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br>
              <a:rPr lang="en-IN" sz="4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endParaRPr lang="en-IN" sz="40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BA6CC35-6F17-45D8-AE41-534F52FE8E91}"/>
              </a:ext>
            </a:extLst>
          </p:cNvPr>
          <p:cNvSpPr txBox="1">
            <a:spLocks/>
          </p:cNvSpPr>
          <p:nvPr/>
        </p:nvSpPr>
        <p:spPr>
          <a:xfrm>
            <a:off x="1025564" y="4597307"/>
            <a:ext cx="4678950" cy="1171914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500" b="1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Name: Jaitra J. Solanki(202304005)</a:t>
            </a:r>
          </a:p>
          <a:p>
            <a:r>
              <a:rPr lang="en-IN" sz="2500" b="1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Project Mentor: Sreeja Rajendran</a:t>
            </a:r>
          </a:p>
          <a:p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7AF587-F83B-4120-95AB-0647038FBB3B}"/>
              </a:ext>
            </a:extLst>
          </p:cNvPr>
          <p:cNvSpPr txBox="1"/>
          <p:nvPr/>
        </p:nvSpPr>
        <p:spPr>
          <a:xfrm>
            <a:off x="801544" y="2047688"/>
            <a:ext cx="112865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br>
              <a:rPr lang="en-IN" sz="4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IN" sz="4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Round Robin Arbiter Implementation in Verilog HDL</a:t>
            </a:r>
            <a:endParaRPr lang="en-IN" sz="40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DBD44B1-3532-46A8-8807-4201456C965E}"/>
              </a:ext>
            </a:extLst>
          </p:cNvPr>
          <p:cNvCxnSpPr/>
          <p:nvPr/>
        </p:nvCxnSpPr>
        <p:spPr>
          <a:xfrm>
            <a:off x="1366320" y="3509685"/>
            <a:ext cx="10246659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C0D3C5CA-284C-4836-B93F-A26C68B2A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49072-99F4-4EA5-84A3-7C6990B0C9BB}" type="datetime1">
              <a:rPr lang="en-IN" sz="1050" b="1" smtClean="0"/>
              <a:t>02-12-2025</a:t>
            </a:fld>
            <a:endParaRPr lang="en-IN" sz="1050" b="1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DFEFCDA-E570-4CB2-BE26-913409ECC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050" b="1" dirty="0"/>
              <a:t>Dhirubhai Ambani University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11127044-8B4E-4DA3-8797-1872E3B13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F0E1EFC-62C9-4946-A2EF-63AEA09E8516}" type="slidenum">
              <a:rPr lang="en-IN" b="1" smtClean="0"/>
              <a:pPr algn="ctr"/>
              <a:t>1</a:t>
            </a:fld>
            <a:endParaRPr lang="en-IN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6F99106-A5BF-467D-BC82-2BB2E7357C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144" y="129372"/>
            <a:ext cx="2341479" cy="179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993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50967A-18CE-4921-BFD7-7DE6F92CF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A985C-DD02-4307-9E45-2659D55C26D0}" type="datetime1">
              <a:rPr lang="en-IN" sz="1050" smtClean="0"/>
              <a:t>02-12-2025</a:t>
            </a:fld>
            <a:endParaRPr lang="en-IN" sz="105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B5180-CF7E-40F8-A461-6BCBE4D77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1EFC-62C9-4946-A2EF-63AEA09E8516}" type="slidenum">
              <a:rPr lang="en-IN" smtClean="0"/>
              <a:t>2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BC60D53-2150-4F70-8660-94B48B9E1352}"/>
              </a:ext>
            </a:extLst>
          </p:cNvPr>
          <p:cNvSpPr txBox="1">
            <a:spLocks/>
          </p:cNvSpPr>
          <p:nvPr/>
        </p:nvSpPr>
        <p:spPr>
          <a:xfrm>
            <a:off x="1097279" y="553984"/>
            <a:ext cx="9264127" cy="8698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dirty="0"/>
              <a:t>Problem Statement &amp; Need for an Arbiter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C974634-D951-458F-8510-5D449FDAAF22}"/>
              </a:ext>
            </a:extLst>
          </p:cNvPr>
          <p:cNvSpPr txBox="1">
            <a:spLocks/>
          </p:cNvSpPr>
          <p:nvPr/>
        </p:nvSpPr>
        <p:spPr>
          <a:xfrm>
            <a:off x="1066800" y="1271993"/>
            <a:ext cx="10058400" cy="402336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u="sng" dirty="0"/>
              <a:t>Problem in Digital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Multiple modules request access to a </a:t>
            </a:r>
            <a:r>
              <a:rPr lang="en-US" b="1" dirty="0"/>
              <a:t>single shared resource</a:t>
            </a:r>
            <a:r>
              <a:rPr lang="en-US" dirty="0"/>
              <a:t> at the same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Without control, this leads to </a:t>
            </a:r>
            <a:r>
              <a:rPr lang="en-US" b="1" dirty="0"/>
              <a:t>conflicts</a:t>
            </a:r>
            <a:r>
              <a:rPr lang="en-US" dirty="0"/>
              <a:t> and </a:t>
            </a:r>
            <a:r>
              <a:rPr lang="en-US" b="1" dirty="0"/>
              <a:t>unpredictable system behaviour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EFEBBFF-996B-4E0E-8CA0-649426521217}"/>
              </a:ext>
            </a:extLst>
          </p:cNvPr>
          <p:cNvSpPr txBox="1">
            <a:spLocks/>
          </p:cNvSpPr>
          <p:nvPr/>
        </p:nvSpPr>
        <p:spPr>
          <a:xfrm>
            <a:off x="1097281" y="6459785"/>
            <a:ext cx="731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9CA720F-CD76-4579-BF18-CEEB8884F215}"/>
              </a:ext>
            </a:extLst>
          </p:cNvPr>
          <p:cNvSpPr txBox="1">
            <a:spLocks/>
          </p:cNvSpPr>
          <p:nvPr/>
        </p:nvSpPr>
        <p:spPr>
          <a:xfrm>
            <a:off x="3131178" y="6459784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50" dirty="0"/>
              <a:t>Dhirubhai Ambani University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C07F9A7-29E4-47A4-A03A-BE48EDEA323A}"/>
              </a:ext>
            </a:extLst>
          </p:cNvPr>
          <p:cNvSpPr txBox="1">
            <a:spLocks/>
          </p:cNvSpPr>
          <p:nvPr/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F0E1EFC-62C9-4946-A2EF-63AEA09E8516}" type="slidenum">
              <a:rPr lang="en-IN" smtClean="0"/>
              <a:pPr/>
              <a:t>2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FD7472-1952-444E-AFBB-04A733405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4491" y="2588260"/>
            <a:ext cx="4376178" cy="324802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1368B7-4CF6-4E5F-9477-AF46DED93A30}"/>
              </a:ext>
            </a:extLst>
          </p:cNvPr>
          <p:cNvCxnSpPr/>
          <p:nvPr/>
        </p:nvCxnSpPr>
        <p:spPr>
          <a:xfrm>
            <a:off x="1066800" y="1160932"/>
            <a:ext cx="10246659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216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038356-9E7E-44DE-9868-805C73F1A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72D90-0B22-4505-8142-69A5C74671A8}" type="datetime1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9E1CA4-B4C5-4924-A340-3E6078137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Dhirubhai Ambani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1D992-8925-4895-94A1-D7BAF8504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1EFC-62C9-4946-A2EF-63AEA09E8516}" type="slidenum">
              <a:rPr lang="en-IN" smtClean="0"/>
              <a:t>3</a:t>
            </a:fld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B0D033-EB88-4297-B123-88F969A1B3A2}"/>
              </a:ext>
            </a:extLst>
          </p:cNvPr>
          <p:cNvCxnSpPr/>
          <p:nvPr/>
        </p:nvCxnSpPr>
        <p:spPr>
          <a:xfrm>
            <a:off x="1066800" y="1160932"/>
            <a:ext cx="10246659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A8B97D7-3EA3-405B-8C52-CFE82011A01F}"/>
              </a:ext>
            </a:extLst>
          </p:cNvPr>
          <p:cNvSpPr txBox="1"/>
          <p:nvPr/>
        </p:nvSpPr>
        <p:spPr>
          <a:xfrm>
            <a:off x="1097280" y="1425857"/>
            <a:ext cx="816416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An arbiter is a digital hardware block that decides which requestor gets access to a shared resource when multiple requestors ask for it at the same time.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Common Arbitration Techniques:</a:t>
            </a:r>
          </a:p>
          <a:p>
            <a:pPr marL="914400" lvl="1" indent="-457200">
              <a:buAutoNum type="arabicParenR"/>
            </a:pPr>
            <a:r>
              <a:rPr lang="en-IN" sz="2000" dirty="0"/>
              <a:t>Fixed Priority Arbiter</a:t>
            </a:r>
          </a:p>
          <a:p>
            <a:pPr marL="914400" lvl="1" indent="-457200">
              <a:buAutoNum type="arabicParenR"/>
            </a:pPr>
            <a:r>
              <a:rPr lang="en-IN" sz="2000" dirty="0"/>
              <a:t>Round Robin Arbiter</a:t>
            </a:r>
          </a:p>
          <a:p>
            <a:pPr marL="914400" lvl="1" indent="-457200">
              <a:buAutoNum type="arabicParenR"/>
            </a:pPr>
            <a:r>
              <a:rPr lang="en-IN" sz="2000" dirty="0"/>
              <a:t>Matrix Arbiter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dirty="0"/>
              <a:t>Now</a:t>
            </a:r>
            <a:r>
              <a:rPr lang="en-US" sz="2000" b="1" dirty="0"/>
              <a:t>, why do We Need an Arbiter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To decide which requester gets access at any given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To prevent conflicts and ensure reliable communication.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To provide an organised and controlled way of sharing resources.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1B38C8-8A85-435C-A545-D6093FC46CD0}"/>
              </a:ext>
            </a:extLst>
          </p:cNvPr>
          <p:cNvSpPr txBox="1"/>
          <p:nvPr/>
        </p:nvSpPr>
        <p:spPr>
          <a:xfrm>
            <a:off x="1184822" y="453046"/>
            <a:ext cx="17345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Arbiter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038418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7B8CE0-54FC-4569-8BDA-1F6BE8E40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A3A8C-15DE-4C60-A19F-A8FFE864615D}" type="datetime1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6431C6-A957-4383-ACF3-066C3812F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Dhirubhai Ambani University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57848-0531-4E9A-B326-405F4E56D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1EFC-62C9-4946-A2EF-63AEA09E8516}" type="slidenum">
              <a:rPr lang="en-IN" smtClean="0"/>
              <a:t>4</a:t>
            </a:fld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81D8FBB-108D-429A-91BC-2DDE4319F1C5}"/>
              </a:ext>
            </a:extLst>
          </p:cNvPr>
          <p:cNvCxnSpPr/>
          <p:nvPr/>
        </p:nvCxnSpPr>
        <p:spPr>
          <a:xfrm>
            <a:off x="1066800" y="1160932"/>
            <a:ext cx="10246659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725454B-A92C-4AA3-BA26-8FAABD69458C}"/>
              </a:ext>
            </a:extLst>
          </p:cNvPr>
          <p:cNvSpPr txBox="1"/>
          <p:nvPr/>
        </p:nvSpPr>
        <p:spPr>
          <a:xfrm>
            <a:off x="1066800" y="453046"/>
            <a:ext cx="76243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/>
              <a:t>Basic Block of Fixed-Priority Arbiter: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62946C-1822-4DE6-AD33-275D3B0DF6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532" y="1709737"/>
            <a:ext cx="5819775" cy="34385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A34855-124B-49CA-AC16-259693F48422}"/>
              </a:ext>
            </a:extLst>
          </p:cNvPr>
          <p:cNvSpPr txBox="1"/>
          <p:nvPr/>
        </p:nvSpPr>
        <p:spPr>
          <a:xfrm>
            <a:off x="7341079" y="1709737"/>
            <a:ext cx="4761781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Application/Examples: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control bus access, memory access, or peripheral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Microprocessors / Microcontrollers – interrupt handling.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Shared Bus Systems – deciding which master gets the bus.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a smartphone SoC, both the CPU and GPU may request access to the same memory.</a:t>
            </a:r>
            <a:br>
              <a:rPr lang="en-US" dirty="0"/>
            </a:br>
            <a:r>
              <a:rPr lang="en-US" dirty="0"/>
              <a:t>The arbiter decides which one gets access first, preventing data collision and ensuring smooth operation.</a:t>
            </a:r>
            <a:endParaRPr lang="en-IN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C291BD9-193C-45F2-B658-F9050CE8AB25}"/>
              </a:ext>
            </a:extLst>
          </p:cNvPr>
          <p:cNvCxnSpPr/>
          <p:nvPr/>
        </p:nvCxnSpPr>
        <p:spPr>
          <a:xfrm>
            <a:off x="7155809" y="1575513"/>
            <a:ext cx="0" cy="41457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818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237C46-DC34-4C62-AA15-1585A4057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D9EF1-3B68-4C8E-B8E5-99B477731F99}" type="datetime1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1D11AA-1FA8-404C-8832-B0A5653DF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Dhirubhai Ambani University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B6A65-3E51-4A13-AF23-408F3A110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1EFC-62C9-4946-A2EF-63AEA09E8516}" type="slidenum">
              <a:rPr lang="en-IN" smtClean="0"/>
              <a:t>5</a:t>
            </a:fld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B2A97A1-E704-4EB6-9FF0-506C942EEDDC}"/>
              </a:ext>
            </a:extLst>
          </p:cNvPr>
          <p:cNvCxnSpPr/>
          <p:nvPr/>
        </p:nvCxnSpPr>
        <p:spPr>
          <a:xfrm>
            <a:off x="1097280" y="1334972"/>
            <a:ext cx="10246659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1C4DC4D-8956-4273-BF12-4527D3D4C00A}"/>
              </a:ext>
            </a:extLst>
          </p:cNvPr>
          <p:cNvSpPr txBox="1"/>
          <p:nvPr/>
        </p:nvSpPr>
        <p:spPr>
          <a:xfrm>
            <a:off x="940966" y="515994"/>
            <a:ext cx="96794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+mj-lt"/>
              </a:rPr>
              <a:t> </a:t>
            </a:r>
            <a:r>
              <a:rPr lang="en-IN" sz="4000" dirty="0"/>
              <a:t>Fixed-Priority</a:t>
            </a:r>
            <a:r>
              <a:rPr lang="en-IN" sz="4000" b="1" dirty="0">
                <a:latin typeface="+mj-lt"/>
              </a:rPr>
              <a:t> </a:t>
            </a:r>
            <a:r>
              <a:rPr lang="en-IN" sz="4000" dirty="0"/>
              <a:t>Arbiter</a:t>
            </a:r>
            <a:r>
              <a:rPr lang="en-IN" sz="4000" b="1" dirty="0">
                <a:latin typeface="+mj-lt"/>
              </a:rPr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79C49D-902B-4DB5-81C7-5D2AF9074FB1}"/>
              </a:ext>
            </a:extLst>
          </p:cNvPr>
          <p:cNvSpPr txBox="1"/>
          <p:nvPr/>
        </p:nvSpPr>
        <p:spPr>
          <a:xfrm>
            <a:off x="1073825" y="1560351"/>
            <a:ext cx="104190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Advantage</a:t>
            </a:r>
            <a:r>
              <a:rPr lang="en-IN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Allows preference</a:t>
            </a:r>
            <a:r>
              <a:rPr lang="en-US" b="1" dirty="0"/>
              <a:t> </a:t>
            </a:r>
            <a:r>
              <a:rPr lang="en-US" dirty="0"/>
              <a:t>to</a:t>
            </a:r>
            <a:r>
              <a:rPr lang="en-US" b="1" dirty="0"/>
              <a:t> </a:t>
            </a:r>
            <a:r>
              <a:rPr lang="en-US" dirty="0"/>
              <a:t>a</a:t>
            </a:r>
            <a:r>
              <a:rPr lang="en-US" b="1" dirty="0"/>
              <a:t> </a:t>
            </a:r>
            <a:r>
              <a:rPr lang="en-US" dirty="0"/>
              <a:t>specific</a:t>
            </a:r>
            <a:r>
              <a:rPr lang="en-US" b="1" dirty="0"/>
              <a:t> </a:t>
            </a:r>
            <a:r>
              <a:rPr lang="en-US" dirty="0"/>
              <a:t>requester based on predefined priority levels.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Useful in systems where certain tasks must always be serviced first. (In many microcontrollers, some interrupts must be serviced immediately (like timer</a:t>
            </a:r>
            <a:r>
              <a:rPr lang="en-US" b="1" dirty="0"/>
              <a:t> </a:t>
            </a:r>
            <a:r>
              <a:rPr lang="en-US" dirty="0"/>
              <a:t>interrupt or emergency</a:t>
            </a:r>
            <a:r>
              <a:rPr lang="en-US" b="1" dirty="0"/>
              <a:t> </a:t>
            </a:r>
            <a:r>
              <a:rPr lang="en-US" dirty="0"/>
              <a:t>fault</a:t>
            </a:r>
            <a:r>
              <a:rPr lang="en-US" b="1" dirty="0"/>
              <a:t> </a:t>
            </a:r>
            <a:r>
              <a:rPr lang="en-US" dirty="0"/>
              <a:t>interrupt).)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FD60BD-BDE9-4074-9A47-82293A0532C1}"/>
              </a:ext>
            </a:extLst>
          </p:cNvPr>
          <p:cNvSpPr txBox="1"/>
          <p:nvPr/>
        </p:nvSpPr>
        <p:spPr>
          <a:xfrm>
            <a:off x="1073824" y="2986058"/>
            <a:ext cx="106120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Disadvantage: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When a high-priority requester keeps requesting frequently for a resource, it will result in starvation of requesters with low priority. (A process is ready to run, but it never gets CPU time because other processes keep getting started.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6B7F06-0434-4963-8B7A-AF9E89041AB3}"/>
              </a:ext>
            </a:extLst>
          </p:cNvPr>
          <p:cNvSpPr txBox="1"/>
          <p:nvPr/>
        </p:nvSpPr>
        <p:spPr>
          <a:xfrm>
            <a:off x="1128388" y="4522858"/>
            <a:ext cx="6502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 solution to starvation-free Arbitration is the </a:t>
            </a:r>
            <a:r>
              <a:rPr lang="en-IN" b="1" dirty="0"/>
              <a:t>Round Robin Arbiter.</a:t>
            </a:r>
          </a:p>
        </p:txBody>
      </p:sp>
    </p:spTree>
    <p:extLst>
      <p:ext uri="{BB962C8B-B14F-4D97-AF65-F5344CB8AC3E}">
        <p14:creationId xmlns:p14="http://schemas.microsoft.com/office/powerpoint/2010/main" val="3687743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74AEE7-FC8E-4BE8-A4B0-B3819D638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BBFB8-6786-458E-885F-EFB02C99551C}" type="datetime1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07A98E-A8B5-471F-BF1C-AC85AB107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Dhirubhai Ambani University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30BD5-3765-427C-BE10-62F6D8C38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1EFC-62C9-4946-A2EF-63AEA09E8516}" type="slidenum">
              <a:rPr lang="en-IN" smtClean="0"/>
              <a:t>6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3A57DB-D87E-4B9F-930B-3A214B8A6332}"/>
              </a:ext>
            </a:extLst>
          </p:cNvPr>
          <p:cNvSpPr txBox="1"/>
          <p:nvPr/>
        </p:nvSpPr>
        <p:spPr>
          <a:xfrm>
            <a:off x="1020719" y="453046"/>
            <a:ext cx="88797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Fixed Priority Arbiter – Verilog Simulation</a:t>
            </a:r>
            <a:r>
              <a:rPr lang="en-IN" sz="4000" dirty="0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32C8F59-D727-4EB7-A021-CABB60D07757}"/>
              </a:ext>
            </a:extLst>
          </p:cNvPr>
          <p:cNvCxnSpPr/>
          <p:nvPr/>
        </p:nvCxnSpPr>
        <p:spPr>
          <a:xfrm>
            <a:off x="1097280" y="1334972"/>
            <a:ext cx="10246659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75CDDA6-9EE4-49CB-8A89-5E2B52AAC2B4}"/>
              </a:ext>
            </a:extLst>
          </p:cNvPr>
          <p:cNvSpPr txBox="1"/>
          <p:nvPr/>
        </p:nvSpPr>
        <p:spPr>
          <a:xfrm>
            <a:off x="1020719" y="1508700"/>
            <a:ext cx="93424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Explanation of REQ[3:0] and GNT[3:0]: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What is REQ[3:0]?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REQ[3:0] is a 4-bit input request bus.</a:t>
            </a:r>
          </a:p>
          <a:p>
            <a:r>
              <a:rPr lang="en-US" dirty="0"/>
              <a:t>      Each bit represents a separate requester: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REQ[3] → Requester 3 (highest priority)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REQ[2] → Requester 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REQ[1] → Requester 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REQ[0] → Requester 0 (lowest priority)</a:t>
            </a: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93584FB2-B7B7-4EF8-9F49-BC21F2265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719" y="3817024"/>
            <a:ext cx="775084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does the 4-bit value represent?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 1010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REQ[3] = 1 → Requester 3 is asking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REQ[2] = 0 → Requester 2 is not asking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REQ[1] = 1 → Requester 1 is asking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REQ[0] = 0 → Requester 0 is not asking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 this 4-bit number tells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requesters are active at the same 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37BEE8F-7E83-4A51-8922-2BFB23CD834E}"/>
              </a:ext>
            </a:extLst>
          </p:cNvPr>
          <p:cNvCxnSpPr/>
          <p:nvPr/>
        </p:nvCxnSpPr>
        <p:spPr>
          <a:xfrm>
            <a:off x="6606988" y="4697506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C59D9ED-8879-4158-A109-DFA3C150BFFC}"/>
              </a:ext>
            </a:extLst>
          </p:cNvPr>
          <p:cNvCxnSpPr/>
          <p:nvPr/>
        </p:nvCxnSpPr>
        <p:spPr>
          <a:xfrm>
            <a:off x="11438965" y="4832686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57697C93-D292-410D-AAC3-4D8FCDB303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880" y="2063209"/>
            <a:ext cx="5267325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170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74AEE7-FC8E-4BE8-A4B0-B3819D638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BBFB8-6786-458E-885F-EFB02C99551C}" type="datetime1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07A98E-A8B5-471F-BF1C-AC85AB107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Dhirubhai Ambani University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30BD5-3765-427C-BE10-62F6D8C38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1EFC-62C9-4946-A2EF-63AEA09E8516}" type="slidenum">
              <a:rPr lang="en-IN" smtClean="0"/>
              <a:t>7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3A57DB-D87E-4B9F-930B-3A214B8A6332}"/>
              </a:ext>
            </a:extLst>
          </p:cNvPr>
          <p:cNvSpPr txBox="1"/>
          <p:nvPr/>
        </p:nvSpPr>
        <p:spPr>
          <a:xfrm>
            <a:off x="1020719" y="453046"/>
            <a:ext cx="88797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Fixed Priority Arbiter – Verilog Simulation</a:t>
            </a:r>
            <a:r>
              <a:rPr lang="en-IN" sz="4000" dirty="0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32C8F59-D727-4EB7-A021-CABB60D07757}"/>
              </a:ext>
            </a:extLst>
          </p:cNvPr>
          <p:cNvCxnSpPr/>
          <p:nvPr/>
        </p:nvCxnSpPr>
        <p:spPr>
          <a:xfrm>
            <a:off x="1097280" y="1334972"/>
            <a:ext cx="10246659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75CDDA6-9EE4-49CB-8A89-5E2B52AAC2B4}"/>
              </a:ext>
            </a:extLst>
          </p:cNvPr>
          <p:cNvSpPr txBox="1"/>
          <p:nvPr/>
        </p:nvSpPr>
        <p:spPr>
          <a:xfrm>
            <a:off x="1020719" y="1508700"/>
            <a:ext cx="934248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What is GNT[3:0]?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GNT[3:0] is a 4-bit one-hot output grant bus.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Only one bit becomes 1 at a time — the requester who receives the grant: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GNT[3] = 1 → Requester 3 is granted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GNT[2] = 1 → Requester 2 is granted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GNT[1] = 1 → Requester 1 is granted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GNT[0] = 1 → Requester 0 is granted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From Our Waveform: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When</a:t>
            </a:r>
            <a:r>
              <a:rPr lang="en-US" b="1" dirty="0"/>
              <a:t> </a:t>
            </a:r>
            <a:r>
              <a:rPr lang="en-US" dirty="0"/>
              <a:t>REQ=1010   the highest-priority requester active is REQ[3].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So GNT=1000</a:t>
            </a:r>
            <a:r>
              <a:rPr lang="en-US" b="1" dirty="0"/>
              <a:t> </a:t>
            </a:r>
            <a:r>
              <a:rPr lang="en-US" dirty="0"/>
              <a:t>(grant goes to requester 3).</a:t>
            </a: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When REQ=0110, the highest active is REQ[2].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So, GNT=0100.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37BEE8F-7E83-4A51-8922-2BFB23CD834E}"/>
              </a:ext>
            </a:extLst>
          </p:cNvPr>
          <p:cNvCxnSpPr/>
          <p:nvPr/>
        </p:nvCxnSpPr>
        <p:spPr>
          <a:xfrm>
            <a:off x="6606988" y="4697506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C59D9ED-8879-4158-A109-DFA3C150BFFC}"/>
              </a:ext>
            </a:extLst>
          </p:cNvPr>
          <p:cNvCxnSpPr/>
          <p:nvPr/>
        </p:nvCxnSpPr>
        <p:spPr>
          <a:xfrm>
            <a:off x="11438965" y="4832686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587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111F38-D9D2-4478-90B6-E75EB803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9B24D-E235-499B-8AC5-E6BAC094034C}" type="datetime1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C1958B-1464-41C4-97E2-CFECC3CEB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Dhirubhai Ambani University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D15AD-FE29-4126-A551-C5419F69F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1EFC-62C9-4946-A2EF-63AEA09E8516}" type="slidenum">
              <a:rPr lang="en-IN" smtClean="0"/>
              <a:t>8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C8B4D3-E4C8-4665-9093-B0E304197211}"/>
              </a:ext>
            </a:extLst>
          </p:cNvPr>
          <p:cNvCxnSpPr/>
          <p:nvPr/>
        </p:nvCxnSpPr>
        <p:spPr>
          <a:xfrm>
            <a:off x="1066800" y="1160932"/>
            <a:ext cx="10246659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016D809-AE60-4601-900B-A35E3110ED3A}"/>
              </a:ext>
            </a:extLst>
          </p:cNvPr>
          <p:cNvSpPr txBox="1"/>
          <p:nvPr/>
        </p:nvSpPr>
        <p:spPr>
          <a:xfrm>
            <a:off x="1020719" y="453046"/>
            <a:ext cx="88797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Fixed Priority Arbiter – Verilog Simulation</a:t>
            </a:r>
            <a:r>
              <a:rPr lang="en-IN" sz="4000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AAD408-7428-42AD-A8AF-8F23088B0DFE}"/>
              </a:ext>
            </a:extLst>
          </p:cNvPr>
          <p:cNvSpPr txBox="1"/>
          <p:nvPr/>
        </p:nvSpPr>
        <p:spPr>
          <a:xfrm>
            <a:off x="1066800" y="1413544"/>
            <a:ext cx="10325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arbiter takes 4 input requests and generates a one-hot grant output based on fixed priority.</a:t>
            </a:r>
            <a:br>
              <a:rPr lang="en-US" dirty="0"/>
            </a:br>
            <a:r>
              <a:rPr lang="en-US" dirty="0"/>
              <a:t>The priority order is REQ[3] &gt; REQ[2] &gt; REQ[1] &gt; REQ[0], so the highest active request is always granted first.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3E900B-0C0D-4107-8B90-F22E2820F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29" y="2812410"/>
            <a:ext cx="12097871" cy="225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190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ED002F-5AEE-492A-AA47-F317A1091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BBFB8-6786-458E-885F-EFB02C99551C}" type="datetime1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20EF04-57BF-4DEE-88FE-A4B79AC8B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Dhirubhai Ambani University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6A22E-E69A-43B1-8FD2-F48A08110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1EFC-62C9-4946-A2EF-63AEA09E8516}" type="slidenum">
              <a:rPr lang="en-IN" smtClean="0"/>
              <a:t>9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50B95C-153A-43A7-9DAC-23023DE86AE8}"/>
              </a:ext>
            </a:extLst>
          </p:cNvPr>
          <p:cNvCxnSpPr/>
          <p:nvPr/>
        </p:nvCxnSpPr>
        <p:spPr>
          <a:xfrm>
            <a:off x="1066800" y="1160932"/>
            <a:ext cx="10246659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BE0947D-E227-41E0-BF8D-8C6470162EC8}"/>
              </a:ext>
            </a:extLst>
          </p:cNvPr>
          <p:cNvSpPr txBox="1"/>
          <p:nvPr/>
        </p:nvSpPr>
        <p:spPr>
          <a:xfrm>
            <a:off x="1097280" y="453046"/>
            <a:ext cx="44205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/>
              <a:t>Round Robin Arbiter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63D39A-C1E7-464F-9C25-1E82F5A20B65}"/>
              </a:ext>
            </a:extLst>
          </p:cNvPr>
          <p:cNvSpPr txBox="1"/>
          <p:nvPr/>
        </p:nvSpPr>
        <p:spPr>
          <a:xfrm>
            <a:off x="1143529" y="1353671"/>
            <a:ext cx="94129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Round Robin Arbiter provides fair access to all requesters by rotating priorities after each grant. With a fixed time slice, each requester can use the resource for a set number of clock cycles before the turn moves to the next requester.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2F7C9E-F26D-4D7B-80A1-2955CDDAFC0B}"/>
              </a:ext>
            </a:extLst>
          </p:cNvPr>
          <p:cNvSpPr txBox="1"/>
          <p:nvPr/>
        </p:nvSpPr>
        <p:spPr>
          <a:xfrm>
            <a:off x="1097280" y="2469739"/>
            <a:ext cx="103596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Advantage</a:t>
            </a:r>
            <a:r>
              <a:rPr lang="en-IN" dirty="0"/>
              <a:t>: Shared Resource is allocated uniformly to all requesters and hence does not lead to the requester’s starvation.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Disadvantage: </a:t>
            </a:r>
            <a:r>
              <a:rPr lang="en-IN" dirty="0"/>
              <a:t>Since all requestors are treated equally, we can not give importance to a specific requester.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B12D5B-DDD7-4E56-BC39-4F19484C8106}"/>
              </a:ext>
            </a:extLst>
          </p:cNvPr>
          <p:cNvSpPr txBox="1"/>
          <p:nvPr/>
        </p:nvSpPr>
        <p:spPr>
          <a:xfrm>
            <a:off x="1066800" y="3942742"/>
            <a:ext cx="110484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Basic Terminology:</a:t>
            </a:r>
          </a:p>
          <a:p>
            <a:endParaRPr lang="en-US" b="1" dirty="0"/>
          </a:p>
          <a:p>
            <a:r>
              <a:rPr lang="en-US" b="1" dirty="0"/>
              <a:t> 	1)Burst Time: </a:t>
            </a:r>
            <a:r>
              <a:rPr lang="en-US" dirty="0"/>
              <a:t>The total amount of time a process needs to run on the CPU to finish its execution.</a:t>
            </a:r>
          </a:p>
          <a:p>
            <a:endParaRPr lang="en-US" dirty="0"/>
          </a:p>
          <a:p>
            <a:r>
              <a:rPr lang="en-US" dirty="0"/>
              <a:t>	</a:t>
            </a:r>
            <a:r>
              <a:rPr lang="en-US" b="1" dirty="0"/>
              <a:t>2) Quantum Time (Time Slice): </a:t>
            </a:r>
            <a:r>
              <a:rPr lang="en-US" dirty="0"/>
              <a:t>The fixed amount of CPU time given to each process before switching to the 								    next one. Used in Round Robin scheduling.</a:t>
            </a:r>
          </a:p>
          <a:p>
            <a:endParaRPr lang="en-US" dirty="0"/>
          </a:p>
          <a:p>
            <a:r>
              <a:rPr lang="en-US" dirty="0"/>
              <a:t>	</a:t>
            </a:r>
            <a:r>
              <a:rPr lang="en-US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457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ED002F-5AEE-492A-AA47-F317A1091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BBFB8-6786-458E-885F-EFB02C99551C}" type="datetime1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20EF04-57BF-4DEE-88FE-A4B79AC8B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Dhirubhai Ambani University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6A22E-E69A-43B1-8FD2-F48A08110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1EFC-62C9-4946-A2EF-63AEA09E8516}" type="slidenum">
              <a:rPr lang="en-IN" smtClean="0"/>
              <a:t>10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50B95C-153A-43A7-9DAC-23023DE86AE8}"/>
              </a:ext>
            </a:extLst>
          </p:cNvPr>
          <p:cNvCxnSpPr/>
          <p:nvPr/>
        </p:nvCxnSpPr>
        <p:spPr>
          <a:xfrm>
            <a:off x="1066800" y="1160932"/>
            <a:ext cx="10246659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BE0947D-E227-41E0-BF8D-8C6470162EC8}"/>
              </a:ext>
            </a:extLst>
          </p:cNvPr>
          <p:cNvSpPr txBox="1"/>
          <p:nvPr/>
        </p:nvSpPr>
        <p:spPr>
          <a:xfrm>
            <a:off x="1097280" y="453046"/>
            <a:ext cx="81868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/>
              <a:t>Round Robin Arbiter(Fixed Time slices)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B779F3-C4DA-46E8-94F7-6EF1A8417444}"/>
              </a:ext>
            </a:extLst>
          </p:cNvPr>
          <p:cNvSpPr txBox="1"/>
          <p:nvPr/>
        </p:nvSpPr>
        <p:spPr>
          <a:xfrm>
            <a:off x="735106" y="1326782"/>
            <a:ext cx="1057835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How is Burst Time decided?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Burst time depends on how much work a process has to 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a process needs more CPU work, its burst time is longer.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the work is small, the burst time is short.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 burst time is different for every process and comes from the task itself.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A1E1D7-1AF2-4EC9-9F12-CD6D3BAB13BF}"/>
              </a:ext>
            </a:extLst>
          </p:cNvPr>
          <p:cNvSpPr txBox="1"/>
          <p:nvPr/>
        </p:nvSpPr>
        <p:spPr>
          <a:xfrm>
            <a:off x="2333415" y="4132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34C4AE-D01C-413F-A0B3-58751141ECF4}"/>
              </a:ext>
            </a:extLst>
          </p:cNvPr>
          <p:cNvSpPr txBox="1"/>
          <p:nvPr/>
        </p:nvSpPr>
        <p:spPr>
          <a:xfrm>
            <a:off x="2485815" y="42851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2E8A50-0CD3-48BD-AB3C-6604C49F2452}"/>
              </a:ext>
            </a:extLst>
          </p:cNvPr>
          <p:cNvSpPr txBox="1"/>
          <p:nvPr/>
        </p:nvSpPr>
        <p:spPr>
          <a:xfrm>
            <a:off x="735106" y="2884512"/>
            <a:ext cx="1285090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How is Quantum Time decided?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Quantum time is chosen by the system designer.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It should not be too small, otherwise the CPU keeps switching between processes too often.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It should not be too big, otherwise one process will take too long, and others will have to wait. So the designer picks</a:t>
            </a:r>
          </a:p>
          <a:p>
            <a:r>
              <a:rPr lang="en-US" dirty="0"/>
              <a:t>     a middle value.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Not too small, not too big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Just enough so that every process gets a fair chance and the system runs smoothly.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E8A58B-D1A6-462D-8315-5F9205847746}"/>
              </a:ext>
            </a:extLst>
          </p:cNvPr>
          <p:cNvSpPr txBox="1"/>
          <p:nvPr/>
        </p:nvSpPr>
        <p:spPr>
          <a:xfrm>
            <a:off x="735106" y="4929347"/>
            <a:ext cx="67952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Typical Quantum Time Ranges:</a:t>
            </a:r>
          </a:p>
          <a:p>
            <a:r>
              <a:rPr lang="en-IN" dirty="0"/>
              <a:t>1. Operating Systems (Windows, Linux) </a:t>
            </a:r>
            <a:r>
              <a:rPr lang="en-IN" dirty="0">
                <a:sym typeface="Wingdings" panose="05000000000000000000" pitchFamily="2" charset="2"/>
              </a:rPr>
              <a:t> 4ms to 10ms</a:t>
            </a:r>
            <a:endParaRPr lang="en-IN" dirty="0"/>
          </a:p>
          <a:p>
            <a:r>
              <a:rPr lang="en-IN" dirty="0"/>
              <a:t>2. Smartphones (Android)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1 ms to 5 ms</a:t>
            </a:r>
          </a:p>
          <a:p>
            <a:r>
              <a:rPr lang="en-IN" dirty="0"/>
              <a:t>3. Real-Time Embedded Systems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(100 µs – 1 ms)</a:t>
            </a:r>
          </a:p>
        </p:txBody>
      </p:sp>
    </p:spTree>
    <p:extLst>
      <p:ext uri="{BB962C8B-B14F-4D97-AF65-F5344CB8AC3E}">
        <p14:creationId xmlns:p14="http://schemas.microsoft.com/office/powerpoint/2010/main" val="2191139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7955FE-E38B-4EB6-87F7-81F966A71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BBFB8-6786-458E-885F-EFB02C99551C}" type="datetime1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E37802-F494-4717-88F1-04DEAF374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Dhirubhai Ambani University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56ADE-CB64-4EF5-89CB-2C87C0BB2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1EFC-62C9-4946-A2EF-63AEA09E8516}" type="slidenum">
              <a:rPr lang="en-IN" smtClean="0"/>
              <a:t>11</a:t>
            </a:fld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8AD6-9676-42AA-8ADB-0F3F80D8A41E}"/>
              </a:ext>
            </a:extLst>
          </p:cNvPr>
          <p:cNvCxnSpPr/>
          <p:nvPr/>
        </p:nvCxnSpPr>
        <p:spPr>
          <a:xfrm>
            <a:off x="887506" y="1184813"/>
            <a:ext cx="10246659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DB89D99-9869-459F-B1B4-C09AC20E75B7}"/>
              </a:ext>
            </a:extLst>
          </p:cNvPr>
          <p:cNvSpPr txBox="1"/>
          <p:nvPr/>
        </p:nvSpPr>
        <p:spPr>
          <a:xfrm>
            <a:off x="887506" y="357646"/>
            <a:ext cx="11810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Basic Algorithm for Round Robin Arbiter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9EA4A1-424E-4C12-B63F-39CB1E1119B8}"/>
              </a:ext>
            </a:extLst>
          </p:cNvPr>
          <p:cNvSpPr txBox="1"/>
          <p:nvPr/>
        </p:nvSpPr>
        <p:spPr>
          <a:xfrm>
            <a:off x="1013011" y="3278718"/>
            <a:ext cx="109907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 (Round Robin with Fixed Time Slice)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Time Slice (Quantum Time) = 100 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Process 1 Burst Time = 250 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Process 1 runs for 100 ms, then the arbiter/CPU switches to the next process.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After other processes get their turn, Process 1 continues again until its total is 250 ms completed.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EE631B-7971-41B7-9C5F-E87FA256E3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011" y="1473250"/>
            <a:ext cx="7038975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38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628B8F-BD40-4C47-89B5-53CE40324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BBFB8-6786-458E-885F-EFB02C99551C}" type="datetime1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D2FD41-651B-47AD-98A8-5F17D84B0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Dhirubhai Ambani University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A3C65-CA37-4E9F-9A39-322169657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1EFC-62C9-4946-A2EF-63AEA09E8516}" type="slidenum">
              <a:rPr lang="en-IN" smtClean="0"/>
              <a:t>12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7770A0-E03B-4F7E-820A-E517355AFF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998" y="1237162"/>
            <a:ext cx="6505575" cy="26670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66F4F4-BB4E-47B2-95D5-F6BCC5D1D400}"/>
              </a:ext>
            </a:extLst>
          </p:cNvPr>
          <p:cNvCxnSpPr/>
          <p:nvPr/>
        </p:nvCxnSpPr>
        <p:spPr>
          <a:xfrm>
            <a:off x="654424" y="996554"/>
            <a:ext cx="10246659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112933D-8C14-4F6A-A9A4-3995E7584103}"/>
              </a:ext>
            </a:extLst>
          </p:cNvPr>
          <p:cNvSpPr txBox="1"/>
          <p:nvPr/>
        </p:nvSpPr>
        <p:spPr>
          <a:xfrm>
            <a:off x="736507" y="401809"/>
            <a:ext cx="101645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Basic Algorithm for Round Robin Arbiter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210572-795E-4103-BA73-C15C6781CFA7}"/>
              </a:ext>
            </a:extLst>
          </p:cNvPr>
          <p:cNvSpPr txBox="1"/>
          <p:nvPr/>
        </p:nvSpPr>
        <p:spPr>
          <a:xfrm>
            <a:off x="806823" y="4047281"/>
            <a:ext cx="1138517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Working of Round Robin Arbiter: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The arbiter checks all requesters in a cyclic order (REQ0 → REQ1 → REQ2 → REQ3 → REQ0 → …).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 pointer keeps track of whose turn it is to get the next chance.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When a requester gets the grant, the pointer moves to the next requester.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If the current requester is not requesting, the arbiter moves to the next one in the cycle.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This rotation ensures fairness and no starvation.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With a fixed time slice, each requester holds the grant only for that time, then the arbiter switches.</a:t>
            </a:r>
          </a:p>
        </p:txBody>
      </p:sp>
    </p:spTree>
    <p:extLst>
      <p:ext uri="{BB962C8B-B14F-4D97-AF65-F5344CB8AC3E}">
        <p14:creationId xmlns:p14="http://schemas.microsoft.com/office/powerpoint/2010/main" val="3245095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60B95C-A67A-494F-8F49-6ECE97C3F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BBFB8-6786-458E-885F-EFB02C99551C}" type="datetime1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0A28E4-01AC-4EEE-93A0-C56083221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Dhirubhai Ambani University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7A0E1-8CED-4ABA-B59B-D25E81F97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1EFC-62C9-4946-A2EF-63AEA09E8516}" type="slidenum">
              <a:rPr lang="en-IN" smtClean="0"/>
              <a:t>13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AB97C35-5509-476B-94DF-97C47A5187B1}"/>
              </a:ext>
            </a:extLst>
          </p:cNvPr>
          <p:cNvCxnSpPr/>
          <p:nvPr/>
        </p:nvCxnSpPr>
        <p:spPr>
          <a:xfrm>
            <a:off x="869576" y="969660"/>
            <a:ext cx="10246659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7CF204C-10C8-46F7-83E0-9A7549B2A138}"/>
              </a:ext>
            </a:extLst>
          </p:cNvPr>
          <p:cNvSpPr txBox="1"/>
          <p:nvPr/>
        </p:nvSpPr>
        <p:spPr>
          <a:xfrm>
            <a:off x="869576" y="261774"/>
            <a:ext cx="105873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Round Robin Arbiter – Scheduling Flow Chart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350992B-5277-41F8-8AD2-22D2CE221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259" y="1458597"/>
            <a:ext cx="6439799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809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60B95C-A67A-494F-8F49-6ECE97C3F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BBFB8-6786-458E-885F-EFB02C99551C}" type="datetime1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0A28E4-01AC-4EEE-93A0-C56083221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Dhirubhai Ambani University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7A0E1-8CED-4ABA-B59B-D25E81F97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1EFC-62C9-4946-A2EF-63AEA09E8516}" type="slidenum">
              <a:rPr lang="en-IN" smtClean="0"/>
              <a:t>14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AB97C35-5509-476B-94DF-97C47A5187B1}"/>
              </a:ext>
            </a:extLst>
          </p:cNvPr>
          <p:cNvCxnSpPr/>
          <p:nvPr/>
        </p:nvCxnSpPr>
        <p:spPr>
          <a:xfrm>
            <a:off x="869576" y="969660"/>
            <a:ext cx="10246659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7CF204C-10C8-46F7-83E0-9A7549B2A138}"/>
              </a:ext>
            </a:extLst>
          </p:cNvPr>
          <p:cNvSpPr txBox="1"/>
          <p:nvPr/>
        </p:nvSpPr>
        <p:spPr>
          <a:xfrm>
            <a:off x="869576" y="261774"/>
            <a:ext cx="105873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Round Robin Arbiter – Verilog Simulation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4E3BDB-2AAC-4F1B-A06A-89B7F6856E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80" t="23269" r="22206" b="22745"/>
          <a:stretch/>
        </p:blipFill>
        <p:spPr>
          <a:xfrm>
            <a:off x="133894" y="1046483"/>
            <a:ext cx="12058106" cy="523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176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60B95C-A67A-494F-8F49-6ECE97C3F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BBFB8-6786-458E-885F-EFB02C99551C}" type="datetime1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0A28E4-01AC-4EEE-93A0-C56083221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Dhirubhai Ambani University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7A0E1-8CED-4ABA-B59B-D25E81F97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1EFC-62C9-4946-A2EF-63AEA09E8516}" type="slidenum">
              <a:rPr lang="en-IN" smtClean="0"/>
              <a:t>15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AB97C35-5509-476B-94DF-97C47A5187B1}"/>
              </a:ext>
            </a:extLst>
          </p:cNvPr>
          <p:cNvCxnSpPr/>
          <p:nvPr/>
        </p:nvCxnSpPr>
        <p:spPr>
          <a:xfrm>
            <a:off x="869576" y="969660"/>
            <a:ext cx="10246659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7CF204C-10C8-46F7-83E0-9A7549B2A138}"/>
              </a:ext>
            </a:extLst>
          </p:cNvPr>
          <p:cNvSpPr txBox="1"/>
          <p:nvPr/>
        </p:nvSpPr>
        <p:spPr>
          <a:xfrm>
            <a:off x="869576" y="261774"/>
            <a:ext cx="105873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Round Robin Arbiter(Fixed Time Slices)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9D298C-3651-4A87-99F0-C788366ED17A}"/>
              </a:ext>
            </a:extLst>
          </p:cNvPr>
          <p:cNvSpPr txBox="1"/>
          <p:nvPr/>
        </p:nvSpPr>
        <p:spPr>
          <a:xfrm>
            <a:off x="869576" y="1196454"/>
            <a:ext cx="1042731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Disadvantage:</a:t>
            </a:r>
          </a:p>
          <a:p>
            <a:r>
              <a:rPr lang="en-US" b="1" dirty="0"/>
              <a:t>1. Short tasks finish late</a:t>
            </a:r>
          </a:p>
          <a:p>
            <a:r>
              <a:rPr lang="en-US" dirty="0"/>
              <a:t>Short/quick tasks may need only a few cycles,</a:t>
            </a:r>
            <a:br>
              <a:rPr lang="en-US" dirty="0"/>
            </a:br>
            <a:r>
              <a:rPr lang="en-US" dirty="0"/>
              <a:t>but RR gives them a full-time slice and also makes them wait behind all other tasks.</a:t>
            </a:r>
          </a:p>
          <a:p>
            <a:r>
              <a:rPr lang="en-US" b="1" dirty="0"/>
              <a:t>Example:  </a:t>
            </a:r>
            <a:r>
              <a:rPr lang="en-US" dirty="0"/>
              <a:t>Task A needs only 2 cycles</a:t>
            </a:r>
            <a:br>
              <a:rPr lang="en-US" dirty="0"/>
            </a:br>
            <a:r>
              <a:rPr lang="en-US" dirty="0"/>
              <a:t>Tasks B, C, and D are also requesting</a:t>
            </a:r>
            <a:br>
              <a:rPr lang="en-US" dirty="0"/>
            </a:br>
            <a:r>
              <a:rPr lang="en-US" dirty="0"/>
              <a:t>→ A gets only 1 time slice per round</a:t>
            </a:r>
            <a:br>
              <a:rPr lang="en-US" dirty="0"/>
            </a:br>
            <a:r>
              <a:rPr lang="en-US" dirty="0"/>
              <a:t>→ A must wait for B, C, and D to finish their slices before it runs again</a:t>
            </a:r>
            <a:br>
              <a:rPr lang="en-US" dirty="0"/>
            </a:br>
            <a:r>
              <a:rPr lang="en-US" dirty="0"/>
              <a:t>→ Unnecessary waiting </a:t>
            </a:r>
            <a:r>
              <a:rPr lang="en-US" b="1" dirty="0"/>
              <a:t>→ </a:t>
            </a:r>
            <a:r>
              <a:rPr lang="en-US" dirty="0"/>
              <a:t>higher completion time</a:t>
            </a:r>
          </a:p>
          <a:p>
            <a:r>
              <a:rPr lang="en-US" dirty="0"/>
              <a:t>So even though A is short, it finishes slowly.</a:t>
            </a:r>
          </a:p>
          <a:p>
            <a:endParaRPr lang="en-US" dirty="0"/>
          </a:p>
          <a:p>
            <a:r>
              <a:rPr lang="en-US" b="1" dirty="0"/>
              <a:t>2. Long tasks keep getting interrupted</a:t>
            </a:r>
          </a:p>
          <a:p>
            <a:r>
              <a:rPr lang="en-US" dirty="0"/>
              <a:t>Long tasks need continuous execution,</a:t>
            </a:r>
            <a:br>
              <a:rPr lang="en-US" dirty="0"/>
            </a:br>
            <a:r>
              <a:rPr lang="en-US" dirty="0"/>
              <a:t>but Round Robin stops them after every time slice and gives the turn to the next requester.</a:t>
            </a:r>
          </a:p>
          <a:p>
            <a:r>
              <a:rPr lang="en-US" dirty="0"/>
              <a:t>This leads to: more context switching, losing momentum, taking more total time to finish</a:t>
            </a:r>
          </a:p>
          <a:p>
            <a:r>
              <a:rPr lang="en-US" dirty="0"/>
              <a:t>So long tasks complete more slowly than if they were allowed to run continuously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75229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60B95C-A67A-494F-8F49-6ECE97C3F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BBFB8-6786-458E-885F-EFB02C99551C}" type="datetime1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0A28E4-01AC-4EEE-93A0-C56083221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Dhirubhai Ambani University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7A0E1-8CED-4ABA-B59B-D25E81F97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1EFC-62C9-4946-A2EF-63AEA09E8516}" type="slidenum">
              <a:rPr lang="en-IN" smtClean="0"/>
              <a:t>16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AB97C35-5509-476B-94DF-97C47A5187B1}"/>
              </a:ext>
            </a:extLst>
          </p:cNvPr>
          <p:cNvCxnSpPr/>
          <p:nvPr/>
        </p:nvCxnSpPr>
        <p:spPr>
          <a:xfrm>
            <a:off x="869576" y="969660"/>
            <a:ext cx="10246659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9FBA0D0-76C8-498A-865D-3E30FD783FF4}"/>
              </a:ext>
            </a:extLst>
          </p:cNvPr>
          <p:cNvSpPr txBox="1"/>
          <p:nvPr/>
        </p:nvSpPr>
        <p:spPr>
          <a:xfrm>
            <a:off x="766824" y="1165371"/>
            <a:ext cx="110856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“To overcome the limitations of the standard Round Robin arbiter—such as higher latency, sequential request checking, and poor scalability—we have used a Matrix Round Robin Arbiter, which provides faster parallel arbitration and better fairness.”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5C5231-2308-426A-A7CA-084C97138A68}"/>
              </a:ext>
            </a:extLst>
          </p:cNvPr>
          <p:cNvSpPr txBox="1"/>
          <p:nvPr/>
        </p:nvSpPr>
        <p:spPr>
          <a:xfrm>
            <a:off x="869576" y="2569374"/>
            <a:ext cx="109829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b="1" dirty="0"/>
              <a:t>References:</a:t>
            </a:r>
          </a:p>
          <a:p>
            <a:pPr marL="914400" lvl="1" indent="-457200">
              <a:buAutoNum type="arabicParenR"/>
            </a:pPr>
            <a:r>
              <a:rPr lang="en-US" sz="2000" dirty="0"/>
              <a:t>Toe, A., “Design and Verification of a Round-Robin Arbiter,”</a:t>
            </a:r>
            <a:br>
              <a:rPr lang="en-US" sz="2000" dirty="0"/>
            </a:br>
            <a:r>
              <a:rPr lang="en-US" sz="2000" dirty="0"/>
              <a:t>RIT Digital Institutional Repository, Rochester Institute of Technology.</a:t>
            </a:r>
          </a:p>
          <a:p>
            <a:pPr marL="914400" lvl="1" indent="-457200">
              <a:buAutoNum type="arabicParenR"/>
            </a:pPr>
            <a:r>
              <a:rPr lang="en-US" sz="2000" dirty="0"/>
              <a:t>M. Weber, </a:t>
            </a:r>
            <a:r>
              <a:rPr lang="en-US" sz="2000" i="1" dirty="0"/>
              <a:t>“Arbiters: Design Ideas and Coding Styles,”</a:t>
            </a:r>
            <a:r>
              <a:rPr lang="en-US" sz="2000" dirty="0"/>
              <a:t> IEEE.</a:t>
            </a:r>
            <a:endParaRPr lang="en-IN" sz="2000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20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58EC40-28AE-42C6-8A8A-F48781D15ED0}"/>
              </a:ext>
            </a:extLst>
          </p:cNvPr>
          <p:cNvSpPr txBox="1"/>
          <p:nvPr/>
        </p:nvSpPr>
        <p:spPr>
          <a:xfrm>
            <a:off x="8508989" y="5611606"/>
            <a:ext cx="2442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Thank</a:t>
            </a:r>
            <a:r>
              <a:rPr lang="en-IN" dirty="0"/>
              <a:t> </a:t>
            </a:r>
            <a:r>
              <a:rPr lang="en-IN" b="1" dirty="0"/>
              <a:t>You!....</a:t>
            </a:r>
          </a:p>
        </p:txBody>
      </p:sp>
    </p:spTree>
    <p:extLst>
      <p:ext uri="{BB962C8B-B14F-4D97-AF65-F5344CB8AC3E}">
        <p14:creationId xmlns:p14="http://schemas.microsoft.com/office/powerpoint/2010/main" val="404477908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1706</TotalTime>
  <Words>1566</Words>
  <Application>Microsoft Office PowerPoint</Application>
  <PresentationFormat>Widescreen</PresentationFormat>
  <Paragraphs>175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Google Sans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Individual Project 1(ED313) Name: Jaitra J. Solanki (202304005)</dc:title>
  <dc:creator>Tanvi Solanki</dc:creator>
  <cp:lastModifiedBy>Tanvi Solanki</cp:lastModifiedBy>
  <cp:revision>44</cp:revision>
  <dcterms:created xsi:type="dcterms:W3CDTF">2025-12-01T23:20:13Z</dcterms:created>
  <dcterms:modified xsi:type="dcterms:W3CDTF">2025-12-03T03:46:47Z</dcterms:modified>
</cp:coreProperties>
</file>